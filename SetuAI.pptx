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Noto Serif"/>
      <p:regular r:id="rId201314"/>
    </p:embeddedFont>
    <p:embeddedFont>
      <p:font typeface="Noto Serif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eg"/><Relationship Id="rId2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3234">
              <a:alpha val="80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ohit-shirke.github.io/SetuAI/" TargetMode="External"/><Relationship Id="rId6" Type="http://schemas.openxmlformats.org/officeDocument/2006/relationships/hyperlink" Target="https://github.com/Mohit-shirke/SetuAI.git" TargetMode="External"/><Relationship Id="rId9" Type="http://schemas.openxmlformats.org/officeDocument/2006/relationships/hyperlink" Target="mailto:ommohitshirke@gmail.com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4" Type="http://schemas.openxmlformats.org/officeDocument/2006/relationships/image" Target="../media/image-11-3.png"/><Relationship Id="rId5" Type="http://schemas.openxmlformats.org/officeDocument/2006/relationships/image" Target="../media/image-11-4.svg"/><Relationship Id="rId7" Type="http://schemas.openxmlformats.org/officeDocument/2006/relationships/image" Target="../media/image-11-5.png"/><Relationship Id="rId8" Type="http://schemas.openxmlformats.org/officeDocument/2006/relationships/image" Target="../media/image-11-6.svg"/><Relationship Id="rId10" Type="http://schemas.openxmlformats.org/officeDocument/2006/relationships/image" Target="../media/image-11-7.png"/><Relationship Id="rId11" Type="http://schemas.openxmlformats.org/officeDocument/2006/relationships/image" Target="../media/image-11-8.sv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16406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SetuAI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830314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An offline, on-device sign-language bridge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33360" y="3409057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hi-IN" altLang="en-US" sz="1450" i="1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setu (सेतु) — Hindi/Sanskrit for "bridge." Built to work where the signal doesn't.</a:t>
            </a:r>
            <a:endParaRPr lang="hi-IN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4226520"/>
            <a:ext cx="6296860" cy="467320"/>
          </a:xfrm>
          <a:prstGeom prst="roundRect">
            <a:avLst>
              <a:gd name="adj" fmla="val 4854"/>
            </a:avLst>
          </a:prstGeom>
          <a:noFill/>
          <a:ln w="6350">
            <a:solidFill>
              <a:srgbClr val="E2C2B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46765" y="4283174"/>
            <a:ext cx="6070051" cy="354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2C2B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SNAPDRAGON</a:t>
            </a:r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®</a:t>
            </a:r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2C2B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AI LAB BUILD &amp; PRESENT CHALLENGE · QUALCOMM, VIA UNSTOP · INDIVIDUAL SUBMISSION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1525191"/>
            <a:ext cx="1110329" cy="201116"/>
          </a:xfrm>
          <a:prstGeom prst="roundRect">
            <a:avLst>
              <a:gd name="adj" fmla="val 7895"/>
            </a:avLst>
          </a:prstGeom>
          <a:solidFill>
            <a:srgbClr val="372015"/>
          </a:solidFill>
          <a:ln/>
        </p:spPr>
      </p:sp>
      <p:sp>
        <p:nvSpPr>
          <p:cNvPr id="4" name="Text 1"/>
          <p:cNvSpPr/>
          <p:nvPr/>
        </p:nvSpPr>
        <p:spPr>
          <a:xfrm>
            <a:off x="740848" y="1564878"/>
            <a:ext cx="1561168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01 · THE PROBLEM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61475" y="1763316"/>
            <a:ext cx="6296860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 60,000-to-1 gap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61475" y="2315666"/>
            <a:ext cx="629686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India has one certified interpreter for roughly every 60,000 deaf citizens. Most ISL apps assume a live interpreter or a data connection — both fail exactly where the gap is worst.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5013" y="2845891"/>
            <a:ext cx="2163411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~18M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61475" y="3418086"/>
            <a:ext cx="309058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Deaf individuals in India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1475" y="3680321"/>
            <a:ext cx="309058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National Association of the Deaf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331286" y="2845891"/>
            <a:ext cx="2163411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~300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3867748" y="3418086"/>
            <a:ext cx="3090587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Certified ISL interpreters nationwide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867748" y="3886994"/>
            <a:ext cx="309058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ISLRTC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728150" y="4318298"/>
            <a:ext cx="2163411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63M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2264611" y="4890492"/>
            <a:ext cx="309058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Indians with significant hearing loss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264611" y="5152727"/>
            <a:ext cx="309058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WHO fact sheet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836341"/>
            <a:ext cx="1304793" cy="229691"/>
          </a:xfrm>
          <a:prstGeom prst="roundRect">
            <a:avLst>
              <a:gd name="adj" fmla="val 7900"/>
            </a:avLst>
          </a:prstGeom>
          <a:solidFill>
            <a:srgbClr val="372015"/>
          </a:solidFill>
          <a:ln/>
        </p:spPr>
      </p:sp>
      <p:sp>
        <p:nvSpPr>
          <p:cNvPr id="3" name="Text 1"/>
          <p:cNvSpPr/>
          <p:nvPr/>
        </p:nvSpPr>
        <p:spPr>
          <a:xfrm>
            <a:off x="752159" y="1881684"/>
            <a:ext cx="173301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02 · THE SOLUTION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211435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 two-way bridge, running entirely on-device</a:t>
            </a:r>
            <a:endParaRPr lang="en-US" sz="2950" dirty="0"/>
          </a:p>
        </p:txBody>
      </p:sp>
      <p:sp>
        <p:nvSpPr>
          <p:cNvPr id="5" name="Shape 3"/>
          <p:cNvSpPr/>
          <p:nvPr/>
        </p:nvSpPr>
        <p:spPr>
          <a:xfrm>
            <a:off x="552635" y="2768203"/>
            <a:ext cx="5467610" cy="2253456"/>
          </a:xfrm>
          <a:prstGeom prst="roundRect">
            <a:avLst>
              <a:gd name="adj" fmla="val 1007"/>
            </a:avLst>
          </a:prstGeom>
          <a:solidFill>
            <a:srgbClr val="E2C2B3"/>
          </a:solidFill>
          <a:ln/>
        </p:spPr>
      </p:sp>
      <p:sp>
        <p:nvSpPr>
          <p:cNvPr id="6" name="Text 4"/>
          <p:cNvSpPr/>
          <p:nvPr/>
        </p:nvSpPr>
        <p:spPr>
          <a:xfrm>
            <a:off x="703840" y="2889151"/>
            <a:ext cx="5165199" cy="242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✋</a:t>
            </a:r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Sign → Speech / Text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03840" y="3252688"/>
            <a:ext cx="5165199" cy="985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camera reads the signer's hand shape. An on-device model finds 21 hand keypoints. A classifier maps the shape to a word — captioned and spoken aloud for a hearing listener.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✋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→ 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🔊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"Hello"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86640" y="2889151"/>
            <a:ext cx="5249930" cy="242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⌨</a:t>
            </a:r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Speech / Text → Sign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86640" y="3252688"/>
            <a:ext cx="5249930" cy="768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11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hearing person types a message. It's displayed large and clear — legible across a room — for the deaf person to read.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⌨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"Where's the exit?" → 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👁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86640" y="4156968"/>
            <a:ext cx="5249930" cy="728663"/>
          </a:xfrm>
          <a:prstGeom prst="roundRect">
            <a:avLst>
              <a:gd name="adj" fmla="val 3113"/>
            </a:avLst>
          </a:prstGeom>
          <a:solidFill>
            <a:srgbClr val="5C3523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846" y="4348460"/>
            <a:ext cx="189007" cy="15120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78059" y="4303613"/>
            <a:ext cx="4607306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Nothing touches the cloud. No frame, no audio, no transcript ever leaves the machine.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6752"/>
            <a:ext cx="1047029" cy="178991"/>
          </a:xfrm>
          <a:prstGeom prst="roundRect">
            <a:avLst>
              <a:gd name="adj" fmla="val 7900"/>
            </a:avLst>
          </a:prstGeom>
          <a:solidFill>
            <a:srgbClr val="372015"/>
          </a:solidFill>
          <a:ln/>
        </p:spPr>
      </p:sp>
      <p:sp>
        <p:nvSpPr>
          <p:cNvPr id="3" name="Text 1"/>
          <p:cNvSpPr/>
          <p:nvPr/>
        </p:nvSpPr>
        <p:spPr>
          <a:xfrm>
            <a:off x="732117" y="562074"/>
            <a:ext cx="1515330" cy="108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03 · HOW IT WORKS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735112"/>
            <a:ext cx="10868745" cy="368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 real pipeline, not a mockup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61475" y="1213445"/>
            <a:ext cx="11478330" cy="152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Every stage runs live in the browser demo — genuine on-device inference, nothing simulated.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228" y="1449090"/>
            <a:ext cx="10325239" cy="46464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8576" y="1593670"/>
            <a:ext cx="1806894" cy="279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Capture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2488576" y="1952327"/>
            <a:ext cx="1806894" cy="543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Webcam frame grabbed locally, stays on device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275613" y="5078480"/>
            <a:ext cx="1816822" cy="279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Landmarks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275613" y="5437138"/>
            <a:ext cx="1816822" cy="543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MediaPipe finds 21 hand keypoints in WASM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042795" y="1558921"/>
            <a:ext cx="1806893" cy="279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Classify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042795" y="1917578"/>
            <a:ext cx="1806893" cy="543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Geometry of keypoints → 9-shape vocabulary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829832" y="5078480"/>
            <a:ext cx="1806893" cy="279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Stabilize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829832" y="5437138"/>
            <a:ext cx="1806893" cy="543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Sign must hold for ~8 frames before commit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61475" y="6178153"/>
            <a:ext cx="11478330" cy="152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From webcam capture to spoken output — every stage runs entirely on-device, with no cloud dependency at any point in the pipeline.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0168"/>
            <a:ext cx="1484077" cy="229691"/>
          </a:xfrm>
          <a:prstGeom prst="roundRect">
            <a:avLst>
              <a:gd name="adj" fmla="val 7900"/>
            </a:avLst>
          </a:prstGeom>
          <a:solidFill>
            <a:srgbClr val="372015"/>
          </a:solidFill>
          <a:ln/>
        </p:spPr>
      </p:sp>
      <p:sp>
        <p:nvSpPr>
          <p:cNvPr id="3" name="Text 1"/>
          <p:cNvSpPr/>
          <p:nvPr/>
        </p:nvSpPr>
        <p:spPr>
          <a:xfrm>
            <a:off x="752159" y="595511"/>
            <a:ext cx="191229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04 · SCOPE, HONESTLY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28179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Only 5 of these 9 signs are genuine ISL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475" y="1482030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An earlier draft mislabeled some gestures as ISL. That was wrong — here's the corrected breakdown.</a:t>
            </a:r>
            <a:endParaRPr lang="en-US" sz="1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6428" y="1971774"/>
            <a:ext cx="4199924" cy="42000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86640" y="3203873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Why show a mistake we already fixed?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286640" y="3561060"/>
            <a:ext cx="524993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Because a submission that corrects itself openly is more credible than one that never admits scope limits.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86640" y="4105275"/>
            <a:ext cx="5249930" cy="913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✓ Genuine ISL numerals: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1, 2, 3, 4, 5 — ISL finger-count convention, a real citable overlap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○ Generic gestures: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Fist, thumbs-up, OK, ILY — ASL/international, included to show the pipeline works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1473101"/>
            <a:ext cx="1095149" cy="186630"/>
          </a:xfrm>
          <a:prstGeom prst="roundRect">
            <a:avLst>
              <a:gd name="adj" fmla="val 7900"/>
            </a:avLst>
          </a:prstGeom>
          <a:solidFill>
            <a:srgbClr val="372015"/>
          </a:solidFill>
          <a:ln/>
        </p:spPr>
      </p:sp>
      <p:sp>
        <p:nvSpPr>
          <p:cNvPr id="4" name="Text 1"/>
          <p:cNvSpPr/>
          <p:nvPr/>
        </p:nvSpPr>
        <p:spPr>
          <a:xfrm>
            <a:off x="5306979" y="1509911"/>
            <a:ext cx="1557497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05 · REAL NUMBERS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233360" y="1691580"/>
            <a:ext cx="6296860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We didn't just cite Qualcomm's number — we measured our own</a:t>
            </a:r>
            <a:endParaRPr lang="en-US" sz="2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579291"/>
            <a:ext cx="6296860" cy="6730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19689" y="2714823"/>
            <a:ext cx="597500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Attempt 1 — qai_hub_models + PyTorch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19689" y="2954635"/>
            <a:ext cx="597500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Blocked by disk quota in the build sandbox.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332063"/>
            <a:ext cx="6296860" cy="6730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19689" y="3467596"/>
            <a:ext cx="597500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Attempt 2 — Plain MediaPipe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419689" y="3707408"/>
            <a:ext cx="597500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Blocked — model weights host outside the sandbox's network allow-list.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084836"/>
            <a:ext cx="6296860" cy="83512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19689" y="4220369"/>
            <a:ext cx="597500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Attempt 3 — ONNX Runtime ✓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5419689" y="4460180"/>
            <a:ext cx="5975002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Found a real ONNX hand-landmark model on npm, ran it with ONNX Runtime. Worked — twice, consistently.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5233360" y="5009753"/>
            <a:ext cx="6296860" cy="375047"/>
          </a:xfrm>
          <a:prstGeom prst="roundRect">
            <a:avLst>
              <a:gd name="adj" fmla="val 4914"/>
            </a:avLst>
          </a:prstGeom>
          <a:solidFill>
            <a:srgbClr val="5C3523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6190" y="5126930"/>
            <a:ext cx="153488" cy="12283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632508" y="5120184"/>
            <a:ext cx="638446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Script + model + license included — anyone can re-run this.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848545"/>
            <a:ext cx="1449054" cy="215305"/>
          </a:xfrm>
          <a:prstGeom prst="roundRect">
            <a:avLst>
              <a:gd name="adj" fmla="val 7901"/>
            </a:avLst>
          </a:prstGeom>
          <a:solidFill>
            <a:srgbClr val="372015"/>
          </a:solidFill>
          <a:ln/>
        </p:spPr>
      </p:sp>
      <p:sp>
        <p:nvSpPr>
          <p:cNvPr id="3" name="Text 1"/>
          <p:cNvSpPr/>
          <p:nvPr/>
        </p:nvSpPr>
        <p:spPr>
          <a:xfrm>
            <a:off x="746503" y="1891010"/>
            <a:ext cx="188858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06 · PRODUCTION PATH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2106315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From this browser demo to a Snapdragon NPU app</a:t>
            </a:r>
            <a:endParaRPr lang="en-US" sz="2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708771"/>
          <a:ext cx="9143771" cy="914400"/>
        </p:xfrm>
        <a:graphic>
          <a:graphicData uri="http://schemas.openxmlformats.org/drawingml/2006/table">
            <a:tbl>
              <a:tblPr/>
              <a:tblGrid>
                <a:gridCol w="2391124"/>
                <a:gridCol w="4238811"/>
                <a:gridCol w="4238811"/>
              </a:tblGrid>
              <a:tr h="3385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Stage</a:t>
                      </a:r>
                      <a:endParaRPr lang="en-US" sz="11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This browser demo</a:t>
                      </a:r>
                      <a:endParaRPr lang="en-US" sz="11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Production on Snapdragon</a:t>
                      </a:r>
                      <a:endParaRPr lang="en-US" sz="11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5369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Hand tracking</a:t>
                      </a:r>
                      <a:endParaRPr lang="en-US" sz="11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MediaPipe Hands (WASM)</a:t>
                      </a:r>
                      <a:endParaRPr lang="en-US" sz="11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MediaPipe-Hand-Detection (Qualcomm AI Hub) on Hexagon NPU via QNN — 1.36 ms published</a:t>
                      </a:r>
                      <a:endParaRPr lang="en-US" sz="11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5369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Gesture → word</a:t>
                      </a:r>
                      <a:endParaRPr lang="en-US" sz="11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Rule-based geometry, 9 shapes</a:t>
                      </a:r>
                      <a:endParaRPr lang="en-US" sz="11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Temporal model trained on ISLTranslate (31k pairs), compiled via AI Hub Workbench</a:t>
                      </a:r>
                      <a:endParaRPr lang="en-US" sz="11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385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Speech-in</a:t>
                      </a:r>
                      <a:endParaRPr lang="en-US" sz="11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Browser Speech API (often cloud)</a:t>
                      </a:r>
                      <a:endParaRPr lang="en-US" sz="11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Whisper-Base-En (Qualcomm AI Hub), fully offline</a:t>
                      </a:r>
                      <a:endParaRPr lang="en-US" sz="11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5369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Speech-out</a:t>
                      </a:r>
                      <a:endParaRPr lang="en-US" sz="11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OS speechSynthesis</a:t>
                      </a:r>
                      <a:endParaRPr lang="en-US" sz="11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3C9C5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On-device neural TTS, extended to Hindi &amp; regional languages</a:t>
                      </a:r>
                      <a:endParaRPr lang="en-US" sz="11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593626"/>
            <a:ext cx="1463142" cy="180777"/>
          </a:xfrm>
          <a:prstGeom prst="roundRect">
            <a:avLst>
              <a:gd name="adj" fmla="val 7901"/>
            </a:avLst>
          </a:prstGeom>
          <a:solidFill>
            <a:srgbClr val="372015"/>
          </a:solidFill>
          <a:ln/>
        </p:spPr>
      </p:sp>
      <p:sp>
        <p:nvSpPr>
          <p:cNvPr id="4" name="Text 1"/>
          <p:cNvSpPr/>
          <p:nvPr/>
        </p:nvSpPr>
        <p:spPr>
          <a:xfrm>
            <a:off x="732811" y="629245"/>
            <a:ext cx="1930054" cy="109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07 · WHY THE NPU MATTERS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661475" y="804366"/>
            <a:ext cx="6296860" cy="743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On-device isn't a preference here — it's the requirement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61475" y="1660525"/>
            <a:ext cx="6296860" cy="1055985"/>
          </a:xfrm>
          <a:prstGeom prst="roundRect">
            <a:avLst>
              <a:gd name="adj" fmla="val 1691"/>
            </a:avLst>
          </a:prstGeom>
          <a:solidFill>
            <a:srgbClr val="5F5153"/>
          </a:solidFill>
          <a:ln/>
        </p:spPr>
      </p:sp>
      <p:sp>
        <p:nvSpPr>
          <p:cNvPr id="7" name="Shape 4"/>
          <p:cNvSpPr/>
          <p:nvPr/>
        </p:nvSpPr>
        <p:spPr>
          <a:xfrm>
            <a:off x="780435" y="1779488"/>
            <a:ext cx="356980" cy="356989"/>
          </a:xfrm>
          <a:prstGeom prst="ellipse">
            <a:avLst/>
          </a:prstGeom>
          <a:solidFill>
            <a:srgbClr val="E2C2B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560" y="1877616"/>
            <a:ext cx="160631" cy="1606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0435" y="2211388"/>
            <a:ext cx="605893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No connectivity required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80435" y="2442369"/>
            <a:ext cx="6058939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Works in a rural clinic, moving vehicle, or network outage — exactly where the interpreter gap is worst.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61475" y="2791420"/>
            <a:ext cx="6296860" cy="1055985"/>
          </a:xfrm>
          <a:prstGeom prst="roundRect">
            <a:avLst>
              <a:gd name="adj" fmla="val 1691"/>
            </a:avLst>
          </a:prstGeom>
          <a:solidFill>
            <a:srgbClr val="5F5153"/>
          </a:solidFill>
          <a:ln/>
        </p:spPr>
      </p:sp>
      <p:sp>
        <p:nvSpPr>
          <p:cNvPr id="12" name="Shape 8"/>
          <p:cNvSpPr/>
          <p:nvPr/>
        </p:nvSpPr>
        <p:spPr>
          <a:xfrm>
            <a:off x="780435" y="2910384"/>
            <a:ext cx="356980" cy="356989"/>
          </a:xfrm>
          <a:prstGeom prst="ellipse">
            <a:avLst/>
          </a:prstGeom>
          <a:solidFill>
            <a:srgbClr val="E2C2B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560" y="3008511"/>
            <a:ext cx="160631" cy="16063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80435" y="3342283"/>
            <a:ext cx="605893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No per-query cost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780435" y="3573264"/>
            <a:ext cx="6058939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cloud API charges per call. This is used dozens of times a day — it must be free after the device is bought.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661475" y="3922316"/>
            <a:ext cx="6296860" cy="1055985"/>
          </a:xfrm>
          <a:prstGeom prst="roundRect">
            <a:avLst>
              <a:gd name="adj" fmla="val 1691"/>
            </a:avLst>
          </a:prstGeom>
          <a:solidFill>
            <a:srgbClr val="5F5153"/>
          </a:solidFill>
          <a:ln/>
        </p:spPr>
      </p:sp>
      <p:sp>
        <p:nvSpPr>
          <p:cNvPr id="17" name="Shape 12"/>
          <p:cNvSpPr/>
          <p:nvPr/>
        </p:nvSpPr>
        <p:spPr>
          <a:xfrm>
            <a:off x="780435" y="4041279"/>
            <a:ext cx="356980" cy="356989"/>
          </a:xfrm>
          <a:prstGeom prst="ellipse">
            <a:avLst/>
          </a:prstGeom>
          <a:solidFill>
            <a:srgbClr val="E2C2B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8560" y="4139406"/>
            <a:ext cx="160631" cy="16063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80435" y="4473178"/>
            <a:ext cx="605893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Privacy by design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780435" y="4704159"/>
            <a:ext cx="6058939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camera feed of a medical visit or bank appointment never leaves the person's device.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661475" y="5053211"/>
            <a:ext cx="6296860" cy="1211163"/>
          </a:xfrm>
          <a:prstGeom prst="roundRect">
            <a:avLst>
              <a:gd name="adj" fmla="val 1474"/>
            </a:avLst>
          </a:prstGeom>
          <a:solidFill>
            <a:srgbClr val="5F5153"/>
          </a:solidFill>
          <a:ln/>
        </p:spPr>
      </p:sp>
      <p:sp>
        <p:nvSpPr>
          <p:cNvPr id="22" name="Shape 16"/>
          <p:cNvSpPr/>
          <p:nvPr/>
        </p:nvSpPr>
        <p:spPr>
          <a:xfrm>
            <a:off x="780435" y="5172174"/>
            <a:ext cx="356980" cy="356989"/>
          </a:xfrm>
          <a:prstGeom prst="ellipse">
            <a:avLst/>
          </a:prstGeom>
          <a:solidFill>
            <a:srgbClr val="E2C2B3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8560" y="5270302"/>
            <a:ext cx="160631" cy="16063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80435" y="5604073"/>
            <a:ext cx="605893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1.36 ms on the NPU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780435" y="5835055"/>
            <a:ext cx="6058939" cy="310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Qualcomm's published number for this model on Snapdragon X Elite — fast enough to feel like real conversation.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57089"/>
            <a:ext cx="1018951" cy="229691"/>
          </a:xfrm>
          <a:prstGeom prst="roundRect">
            <a:avLst>
              <a:gd name="adj" fmla="val 7900"/>
            </a:avLst>
          </a:prstGeom>
          <a:solidFill>
            <a:srgbClr val="372015"/>
          </a:solidFill>
          <a:ln/>
        </p:spPr>
      </p:sp>
      <p:sp>
        <p:nvSpPr>
          <p:cNvPr id="3" name="Text 1"/>
          <p:cNvSpPr/>
          <p:nvPr/>
        </p:nvSpPr>
        <p:spPr>
          <a:xfrm>
            <a:off x="752159" y="1202432"/>
            <a:ext cx="144716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08 · ROADMAP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143510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Honest scope today, a credible path forward</a:t>
            </a:r>
            <a:endParaRPr lang="en-US" sz="2950" dirty="0"/>
          </a:p>
        </p:txBody>
      </p:sp>
      <p:sp>
        <p:nvSpPr>
          <p:cNvPr id="5" name="Shape 3"/>
          <p:cNvSpPr/>
          <p:nvPr/>
        </p:nvSpPr>
        <p:spPr>
          <a:xfrm>
            <a:off x="6086323" y="2088952"/>
            <a:ext cx="19050" cy="3611860"/>
          </a:xfrm>
          <a:prstGeom prst="roundRect">
            <a:avLst>
              <a:gd name="adj" fmla="val 49999"/>
            </a:avLst>
          </a:prstGeom>
          <a:solidFill>
            <a:srgbClr val="786A6C"/>
          </a:solidFill>
          <a:ln/>
        </p:spPr>
      </p:sp>
      <p:sp>
        <p:nvSpPr>
          <p:cNvPr id="6" name="Shape 4"/>
          <p:cNvSpPr/>
          <p:nvPr/>
        </p:nvSpPr>
        <p:spPr>
          <a:xfrm>
            <a:off x="5491174" y="2249487"/>
            <a:ext cx="453617" cy="19050"/>
          </a:xfrm>
          <a:prstGeom prst="roundRect">
            <a:avLst>
              <a:gd name="adj" fmla="val 49999"/>
            </a:avLst>
          </a:prstGeom>
          <a:solidFill>
            <a:srgbClr val="786A6C"/>
          </a:solidFill>
          <a:ln/>
        </p:spPr>
      </p:sp>
      <p:sp>
        <p:nvSpPr>
          <p:cNvPr id="7" name="Shape 5"/>
          <p:cNvSpPr/>
          <p:nvPr/>
        </p:nvSpPr>
        <p:spPr>
          <a:xfrm>
            <a:off x="5925741" y="2088952"/>
            <a:ext cx="340213" cy="340221"/>
          </a:xfrm>
          <a:prstGeom prst="roundRect">
            <a:avLst>
              <a:gd name="adj" fmla="val 6667"/>
            </a:avLst>
          </a:prstGeom>
          <a:solidFill>
            <a:srgbClr val="5F5153"/>
          </a:solidFill>
          <a:ln/>
        </p:spPr>
      </p:sp>
      <p:sp>
        <p:nvSpPr>
          <p:cNvPr id="8" name="Text 6"/>
          <p:cNvSpPr/>
          <p:nvPr/>
        </p:nvSpPr>
        <p:spPr>
          <a:xfrm>
            <a:off x="5982394" y="2117279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61475" y="2140843"/>
            <a:ext cx="46783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Phase 1 — Now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1475" y="2449612"/>
            <a:ext cx="467834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Static, single-hand</a:t>
            </a:r>
            <a:endParaRPr lang="en-US" sz="115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9 shapes, rule-based, running in-browser today.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46904" y="3096220"/>
            <a:ext cx="453617" cy="19050"/>
          </a:xfrm>
          <a:prstGeom prst="roundRect">
            <a:avLst>
              <a:gd name="adj" fmla="val 49999"/>
            </a:avLst>
          </a:prstGeom>
          <a:solidFill>
            <a:srgbClr val="786A6C"/>
          </a:solidFill>
          <a:ln/>
        </p:spPr>
      </p:sp>
      <p:sp>
        <p:nvSpPr>
          <p:cNvPr id="12" name="Shape 10"/>
          <p:cNvSpPr/>
          <p:nvPr/>
        </p:nvSpPr>
        <p:spPr>
          <a:xfrm>
            <a:off x="5925741" y="2935684"/>
            <a:ext cx="340213" cy="340221"/>
          </a:xfrm>
          <a:prstGeom prst="roundRect">
            <a:avLst>
              <a:gd name="adj" fmla="val 6667"/>
            </a:avLst>
          </a:prstGeom>
          <a:solidFill>
            <a:srgbClr val="5F5153"/>
          </a:solidFill>
          <a:ln/>
        </p:spPr>
      </p:sp>
      <p:sp>
        <p:nvSpPr>
          <p:cNvPr id="13" name="Text 11"/>
          <p:cNvSpPr/>
          <p:nvPr/>
        </p:nvSpPr>
        <p:spPr>
          <a:xfrm>
            <a:off x="5982394" y="296401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851875" y="2987576"/>
            <a:ext cx="46783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Phase 2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851875" y="3296345"/>
            <a:ext cx="4678345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True ISL words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Fine-tune a classifier on real ISL hand-shapes, compiled for QNN.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91174" y="3847902"/>
            <a:ext cx="453617" cy="19050"/>
          </a:xfrm>
          <a:prstGeom prst="roundRect">
            <a:avLst>
              <a:gd name="adj" fmla="val 49999"/>
            </a:avLst>
          </a:prstGeom>
          <a:solidFill>
            <a:srgbClr val="786A6C"/>
          </a:solidFill>
          <a:ln/>
        </p:spPr>
      </p:sp>
      <p:sp>
        <p:nvSpPr>
          <p:cNvPr id="17" name="Shape 15"/>
          <p:cNvSpPr/>
          <p:nvPr/>
        </p:nvSpPr>
        <p:spPr>
          <a:xfrm>
            <a:off x="5925741" y="3687366"/>
            <a:ext cx="340213" cy="340221"/>
          </a:xfrm>
          <a:prstGeom prst="roundRect">
            <a:avLst>
              <a:gd name="adj" fmla="val 6667"/>
            </a:avLst>
          </a:prstGeom>
          <a:solidFill>
            <a:srgbClr val="5F5153"/>
          </a:solidFill>
          <a:ln/>
        </p:spPr>
      </p:sp>
      <p:sp>
        <p:nvSpPr>
          <p:cNvPr id="18" name="Text 16"/>
          <p:cNvSpPr/>
          <p:nvPr/>
        </p:nvSpPr>
        <p:spPr>
          <a:xfrm>
            <a:off x="5982394" y="3715693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3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661475" y="3739257"/>
            <a:ext cx="46783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Phase 3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61475" y="4048026"/>
            <a:ext cx="4678345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Two-handed, continuous</a:t>
            </a:r>
            <a:endParaRPr lang="en-US" sz="115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Track both hands + pose; temporal modeling via ISLTranslate corpus.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46904" y="4599682"/>
            <a:ext cx="453617" cy="19050"/>
          </a:xfrm>
          <a:prstGeom prst="roundRect">
            <a:avLst>
              <a:gd name="adj" fmla="val 49999"/>
            </a:avLst>
          </a:prstGeom>
          <a:solidFill>
            <a:srgbClr val="786A6C"/>
          </a:solidFill>
          <a:ln/>
        </p:spPr>
      </p:sp>
      <p:sp>
        <p:nvSpPr>
          <p:cNvPr id="22" name="Shape 20"/>
          <p:cNvSpPr/>
          <p:nvPr/>
        </p:nvSpPr>
        <p:spPr>
          <a:xfrm>
            <a:off x="5925741" y="4439146"/>
            <a:ext cx="340213" cy="340221"/>
          </a:xfrm>
          <a:prstGeom prst="roundRect">
            <a:avLst>
              <a:gd name="adj" fmla="val 6667"/>
            </a:avLst>
          </a:prstGeom>
          <a:solidFill>
            <a:srgbClr val="5F5153"/>
          </a:solidFill>
          <a:ln/>
        </p:spPr>
      </p:sp>
      <p:sp>
        <p:nvSpPr>
          <p:cNvPr id="23" name="Text 21"/>
          <p:cNvSpPr/>
          <p:nvPr/>
        </p:nvSpPr>
        <p:spPr>
          <a:xfrm>
            <a:off x="5982394" y="4467473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4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6851875" y="4491038"/>
            <a:ext cx="46783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Phase 4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851875" y="4799806"/>
            <a:ext cx="467834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Bidirectional, multilingual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On-device Whisper in, on-device Hindi &amp; regional TTS out.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1113433"/>
            <a:ext cx="964382" cy="186630"/>
          </a:xfrm>
          <a:prstGeom prst="roundRect">
            <a:avLst>
              <a:gd name="adj" fmla="val 7900"/>
            </a:avLst>
          </a:prstGeom>
          <a:solidFill>
            <a:srgbClr val="372015"/>
          </a:solidFill>
          <a:ln/>
        </p:spPr>
      </p:sp>
      <p:sp>
        <p:nvSpPr>
          <p:cNvPr id="4" name="Text 1"/>
          <p:cNvSpPr/>
          <p:nvPr/>
        </p:nvSpPr>
        <p:spPr>
          <a:xfrm>
            <a:off x="5306979" y="1150243"/>
            <a:ext cx="1426730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09 · CRITERIA FIT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233360" y="1331913"/>
            <a:ext cx="6296860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Mapped against the challenge's own evaluation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233360" y="2219623"/>
            <a:ext cx="6296860" cy="673001"/>
          </a:xfrm>
          <a:prstGeom prst="roundRect">
            <a:avLst>
              <a:gd name="adj" fmla="val 2738"/>
            </a:avLst>
          </a:prstGeom>
          <a:solidFill>
            <a:srgbClr val="403234"/>
          </a:solidFill>
          <a:ln w="12700">
            <a:solidFill>
              <a:srgbClr val="786A6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68890" y="2355155"/>
            <a:ext cx="602580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Technical Implementation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368890" y="2594967"/>
            <a:ext cx="602580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Working CV pipeline today; named AI Hub model; reproducible ONNX benchmark.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233360" y="2972395"/>
            <a:ext cx="6296860" cy="835124"/>
          </a:xfrm>
          <a:prstGeom prst="roundRect">
            <a:avLst>
              <a:gd name="adj" fmla="val 2207"/>
            </a:avLst>
          </a:prstGeom>
          <a:solidFill>
            <a:srgbClr val="403234"/>
          </a:solidFill>
          <a:ln w="12700">
            <a:solidFill>
              <a:srgbClr val="786A6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68890" y="3107928"/>
            <a:ext cx="602580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Application Use Case &amp; Innovation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68890" y="3347740"/>
            <a:ext cx="6025801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Targets a documented 63M-person gap with an offline-first approach no cloud-dependent app can match.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233360" y="3887291"/>
            <a:ext cx="6296860" cy="673001"/>
          </a:xfrm>
          <a:prstGeom prst="roundRect">
            <a:avLst>
              <a:gd name="adj" fmla="val 2738"/>
            </a:avLst>
          </a:prstGeom>
          <a:solidFill>
            <a:srgbClr val="403234"/>
          </a:solidFill>
          <a:ln w="12700">
            <a:solidFill>
              <a:srgbClr val="786A6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68890" y="4022824"/>
            <a:ext cx="602580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Deployment &amp; Accessibility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68890" y="4262636"/>
            <a:ext cx="602580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Zero install, zero recurring cost, zero network dependency — plus an offline-cache service worker.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233360" y="4640064"/>
            <a:ext cx="6296860" cy="673001"/>
          </a:xfrm>
          <a:prstGeom prst="roundRect">
            <a:avLst>
              <a:gd name="adj" fmla="val 2738"/>
            </a:avLst>
          </a:prstGeom>
          <a:solidFill>
            <a:srgbClr val="403234"/>
          </a:solidFill>
          <a:ln w="12700">
            <a:solidFill>
              <a:srgbClr val="786A6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68890" y="4775597"/>
            <a:ext cx="602580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Presentation &amp; Documentation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368890" y="5015409"/>
            <a:ext cx="602580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This deck, a cited README, an honest correction, and a live testable demo — together, not just slides.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417605" y="5492651"/>
            <a:ext cx="67222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hi-IN" altLang="en-US" sz="950" i="1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setu (सेतु) — a bridge. This is a working bridge, not a promise of one.</a:t>
            </a:r>
            <a:endParaRPr lang="hi-IN" sz="950" dirty="0"/>
          </a:p>
        </p:txBody>
      </p:sp>
      <p:sp>
        <p:nvSpPr>
          <p:cNvPr id="19" name="Shape 16"/>
          <p:cNvSpPr/>
          <p:nvPr/>
        </p:nvSpPr>
        <p:spPr>
          <a:xfrm>
            <a:off x="5233360" y="5402858"/>
            <a:ext cx="12700" cy="341709"/>
          </a:xfrm>
          <a:prstGeom prst="roundRect">
            <a:avLst>
              <a:gd name="adj" fmla="val 49999"/>
            </a:avLst>
          </a:prstGeom>
          <a:solidFill>
            <a:srgbClr val="E2C2B3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976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Thank You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63923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Let's build a bridge together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442666"/>
            <a:ext cx="472468" cy="47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151386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Live Demo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3560068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u="sng" dirty="0">
                <a:solidFill>
                  <a:srgbClr val="E2C2B3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mohit-shirke.github.io/SetuAI/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3915" y="2442666"/>
            <a:ext cx="472468" cy="472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3915" y="3151386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Source Code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213915" y="3560068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u="sng" dirty="0">
                <a:solidFill>
                  <a:srgbClr val="E2C2B3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github.com/Mohit-shirke/SetuAI.git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240510"/>
            <a:ext cx="472468" cy="472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4949230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Email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61475" y="5357912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u="sng" dirty="0">
                <a:solidFill>
                  <a:srgbClr val="E2C2B3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ommohitshirke@gmail.com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13915" y="4240510"/>
            <a:ext cx="472468" cy="472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13915" y="4949230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Phone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6213915" y="5357912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9321593583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E2C2B3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2026-09-29T18:25:53Z</dcterms:created>
  <dcterms:modified xsi:type="dcterms:W3CDTF">2026-09-29T18:25:53Z</dcterms:modified>
</cp:coreProperties>
</file>